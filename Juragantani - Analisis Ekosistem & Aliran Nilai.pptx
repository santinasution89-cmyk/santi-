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2.png"/><Relationship Id="rId5" Type="http://schemas.openxmlformats.org/officeDocument/2006/relationships/image" Target="../media/image-4-5.png"/><Relationship Id="rId6" Type="http://schemas.openxmlformats.org/officeDocument/2006/relationships/image" Target="../media/image-4-2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image" Target="../media/image-9-1.png"/><Relationship Id="rId6" Type="http://schemas.openxmlformats.org/officeDocument/2006/relationships/image" Target="../media/image-9-1.png"/><Relationship Id="rId7" Type="http://schemas.openxmlformats.org/officeDocument/2006/relationships/image" Target="../media/image-9-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D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754880" cy="47548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274320"/>
            <a:ext cx="2926080" cy="2926080"/>
          </a:xfrm>
          <a:prstGeom prst="ellipse">
            <a:avLst/>
          </a:prstGeom>
          <a:solidFill>
            <a:srgbClr val="5A8F4A"/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846320"/>
            <a:ext cx="4114800" cy="41148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5" name="Image 0" descr="/home/claude/icons/network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5486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5 · SISTEM INFORMASI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2286000"/>
            <a:ext cx="98755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Analisis Ekosistem &amp; Aliran Nilai</a:t>
            </a:r>
            <a:endParaRPr lang="en-US" sz="4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Digital Juragantani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640080" y="434340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D8E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Pemetaan aktor, jaringan aliran nilai, dan gambaran implementasi sistem direktori non-transaksional untuk rantai pasok beras, cabai, dan bawang.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5349240"/>
            <a:ext cx="3200400" cy="0"/>
          </a:xfrm>
          <a:prstGeom prst="line">
            <a:avLst/>
          </a:prstGeom>
          <a:noFill/>
          <a:ln w="31750">
            <a:solidFill>
              <a:srgbClr val="D97B2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55321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Nazif Rahmatullah (2430407034)   </a:t>
            </a:r>
            <a:pPr indent="0" marL="0">
              <a:buNone/>
            </a:pPr>
            <a:r>
              <a:rPr lang="en-US" sz="1150" dirty="0">
                <a:solidFill>
                  <a:srgbClr val="C9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Santi (2430407050)   </a:t>
            </a:r>
            <a:pPr indent="0" marL="0">
              <a:buNone/>
            </a:pPr>
            <a:r>
              <a:rPr lang="en-US" sz="1150" dirty="0">
                <a:solidFill>
                  <a:srgbClr val="C9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Riyanti Adly (2430407047)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40080" y="585216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Rizky Firdaus (2430407028)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40080" y="63550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7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Studi Sistem Informasi · Fakultas Ekonomi dan Bisnis Islam · UIN Mahmud Yunus Batusangkar ·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E7EF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 · PENDAHULUAN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Masalah Klasik Rantai Pasok Pertanian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429000" cy="2880360"/>
          </a:xfrm>
          <a:prstGeom prst="roundRect">
            <a:avLst>
              <a:gd name="adj" fmla="val 2540"/>
            </a:avLst>
          </a:prstGeom>
          <a:solidFill>
            <a:srgbClr val="E7EFE0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377440"/>
            <a:ext cx="685800" cy="6858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7" name="Image 0" descr="/home/claude/icons/rout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54203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24612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B3D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Rantai Distribusi Panjang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68680" y="388620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Komoditas melewati banyak perantara sebelum sampai ke pasar, memperbesar biaya dan waktu.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97680" y="2057400"/>
            <a:ext cx="3429000" cy="2880360"/>
          </a:xfrm>
          <a:prstGeom prst="roundRect">
            <a:avLst>
              <a:gd name="adj" fmla="val 2540"/>
            </a:avLst>
          </a:prstGeom>
          <a:solidFill>
            <a:srgbClr val="E7EFE0"/>
          </a:solidFill>
          <a:ln/>
        </p:spPr>
      </p:sp>
      <p:sp>
        <p:nvSpPr>
          <p:cNvPr id="11" name="Shape 8"/>
          <p:cNvSpPr/>
          <p:nvPr/>
        </p:nvSpPr>
        <p:spPr>
          <a:xfrm>
            <a:off x="4617720" y="2377440"/>
            <a:ext cx="685800" cy="6858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2" name="Image 1" descr="/home/claude/icons/questio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2542032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7720" y="324612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B3D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Informasi Pasar Tidak Transparan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4617720" y="388620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Petani sulit mengetahui keberadaan dan daya tampung pengepul/bandar lokal di sekitarnya.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046720" y="2057400"/>
            <a:ext cx="3429000" cy="2880360"/>
          </a:xfrm>
          <a:prstGeom prst="roundRect">
            <a:avLst>
              <a:gd name="adj" fmla="val 2540"/>
            </a:avLst>
          </a:prstGeom>
          <a:solidFill>
            <a:srgbClr val="E7EFE0"/>
          </a:solidFill>
          <a:ln/>
        </p:spPr>
      </p:sp>
      <p:sp>
        <p:nvSpPr>
          <p:cNvPr id="16" name="Shape 12"/>
          <p:cNvSpPr/>
          <p:nvPr/>
        </p:nvSpPr>
        <p:spPr>
          <a:xfrm>
            <a:off x="8366760" y="2377440"/>
            <a:ext cx="685800" cy="6858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7" name="Image 2" descr="/home/claude/icons/char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2542032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66760" y="324612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B3D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Fluktuasi Pasokan bagi Pengepul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8366760" y="388620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Pengepul kesulitan memprediksi pasokan karena jangkauan informasi jadwal panen petani terbatas.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48640" y="52578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B3D1C"/>
          </a:solidFill>
          <a:ln/>
        </p:spPr>
      </p:sp>
      <p:pic>
        <p:nvPicPr>
          <p:cNvPr id="21" name="Image 3" descr="/home/claude/icons/lightbulb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48640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5257800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Juragantani hadir sebagai perantara (intermediary) digital berupa direktori kontak — non-transaksional, fokus pada matching petani &amp; pengepul lokal.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Juragantani — Analisis Ekosistem &amp; Aliran Nilai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E7EF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 · PENDAHULUAN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Rumusan Masalah &amp; Tujuan Penulisan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49240" cy="502920"/>
          </a:xfrm>
          <a:prstGeom prst="roundRect">
            <a:avLst>
              <a:gd name="adj" fmla="val 12727"/>
            </a:avLst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20240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RUMUSAN MASALAH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920240"/>
            <a:ext cx="5349240" cy="502920"/>
          </a:xfrm>
          <a:prstGeom prst="roundRect">
            <a:avLst>
              <a:gd name="adj" fmla="val 12727"/>
            </a:avLst>
          </a:prstGeom>
          <a:solidFill>
            <a:srgbClr val="D97B29"/>
          </a:solidFill>
          <a:ln/>
        </p:spPr>
      </p:sp>
      <p:sp>
        <p:nvSpPr>
          <p:cNvPr id="8" name="Text 6"/>
          <p:cNvSpPr/>
          <p:nvPr/>
        </p:nvSpPr>
        <p:spPr>
          <a:xfrm>
            <a:off x="6263640" y="1920240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PENULISAN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534924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CE6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770632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7706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2679192"/>
            <a:ext cx="45262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Siapa saja minimal 10 aktor utama yang membentuk ekosistem platform Juragantani?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63640" y="2606040"/>
            <a:ext cx="534924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F0E0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46520" y="2770632"/>
            <a:ext cx="365760" cy="365760"/>
          </a:xfrm>
          <a:prstGeom prst="ellipse">
            <a:avLst/>
          </a:prstGeom>
          <a:solidFill>
            <a:srgbClr val="D97B29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27706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49440" y="2679192"/>
            <a:ext cx="45262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Mengidentifikasi sekurang-kurangnya 10 aktor penting dalam ekosistem.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904488"/>
            <a:ext cx="534924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CE6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4069080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069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34440" y="3977640"/>
            <a:ext cx="45262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peran spesifik masing-masing aktor dalam mendukung operasional dan keberlanjutan platform?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63640" y="3904488"/>
            <a:ext cx="534924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F0E0C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46520" y="4069080"/>
            <a:ext cx="365760" cy="365760"/>
          </a:xfrm>
          <a:prstGeom prst="ellipse">
            <a:avLst/>
          </a:prstGeom>
          <a:solidFill>
            <a:srgbClr val="D97B29"/>
          </a:solidFill>
          <a:ln/>
        </p:spPr>
      </p:sp>
      <p:sp>
        <p:nvSpPr>
          <p:cNvPr id="23" name="Text 21"/>
          <p:cNvSpPr/>
          <p:nvPr/>
        </p:nvSpPr>
        <p:spPr>
          <a:xfrm>
            <a:off x="6446520" y="4069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49440" y="3977640"/>
            <a:ext cx="45262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Menganalisis dan mendeskripsikan peran serta tanggung jawab setiap aktor.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202936"/>
            <a:ext cx="534924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CE6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5367528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53675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34440" y="5276088"/>
            <a:ext cx="45262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gambaran hubungan dan aliran nilai (value flow) antar-aktor dalam ekosistem?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63640" y="5202936"/>
            <a:ext cx="534924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F0E0C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46520" y="5367528"/>
            <a:ext cx="365760" cy="365760"/>
          </a:xfrm>
          <a:prstGeom prst="ellipse">
            <a:avLst/>
          </a:prstGeom>
          <a:solidFill>
            <a:srgbClr val="D97B29"/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53675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49440" y="5276088"/>
            <a:ext cx="45262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Memvisualisasikan dinamika hubungan &amp; aliran nilai, on-platform maupun off-platform.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Juragantani — Analisis Ekosistem &amp; Aliran Nilai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E7EF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PLATFORM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Direktori Non-Transaksional: Cara Kerja Juragantani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Berbeda dari marketplace konvensional, Juragantani tidak mengelola pembayaran digital. Platform hanya menjadi titik temu (matching), lalu mengalihkan komunikasi ke WhatsApp.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2331720" cy="2011680"/>
          </a:xfrm>
          <a:prstGeom prst="roundRect">
            <a:avLst>
              <a:gd name="adj" fmla="val 3636"/>
            </a:avLst>
          </a:prstGeom>
          <a:solidFill>
            <a:srgbClr val="E7EFE0"/>
          </a:solidFill>
          <a:ln/>
        </p:spPr>
      </p:sp>
      <p:sp>
        <p:nvSpPr>
          <p:cNvPr id="7" name="Shape 5"/>
          <p:cNvSpPr/>
          <p:nvPr/>
        </p:nvSpPr>
        <p:spPr>
          <a:xfrm>
            <a:off x="1348740" y="352044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8" name="Image 0" descr="/home/claude/icons/seedli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3332" y="3685032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3832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438912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3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Petani mencari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3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pengepul via web</a:t>
            </a:r>
            <a:endParaRPr lang="en-US" sz="1250" dirty="0"/>
          </a:p>
        </p:txBody>
      </p:sp>
      <p:pic>
        <p:nvPicPr>
          <p:cNvPr id="11" name="Image 1" descr="/home/claude/icons/arrowRight_mo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8648" y="4023360"/>
            <a:ext cx="219456" cy="4572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136392" y="3246120"/>
            <a:ext cx="2331720" cy="2011680"/>
          </a:xfrm>
          <a:prstGeom prst="roundRect">
            <a:avLst>
              <a:gd name="adj" fmla="val 3636"/>
            </a:avLst>
          </a:prstGeom>
          <a:solidFill>
            <a:srgbClr val="F1D9B8"/>
          </a:solidFill>
          <a:ln/>
        </p:spPr>
      </p:sp>
      <p:sp>
        <p:nvSpPr>
          <p:cNvPr id="13" name="Shape 9"/>
          <p:cNvSpPr/>
          <p:nvPr/>
        </p:nvSpPr>
        <p:spPr>
          <a:xfrm>
            <a:off x="3936492" y="3520440"/>
            <a:ext cx="731520" cy="731520"/>
          </a:xfrm>
          <a:prstGeom prst="ellipse">
            <a:avLst/>
          </a:prstGeom>
          <a:solidFill>
            <a:srgbClr val="D97B29"/>
          </a:solidFill>
          <a:ln/>
        </p:spPr>
      </p:sp>
      <p:pic>
        <p:nvPicPr>
          <p:cNvPr id="14" name="Image 2" descr="/home/claude/icons/checkCircl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1084" y="3685032"/>
            <a:ext cx="402336" cy="40233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227832" y="33832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3273552" y="438912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3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lokasi &amp;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3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komoditas</a:t>
            </a:r>
            <a:endParaRPr lang="en-US" sz="1250" dirty="0"/>
          </a:p>
        </p:txBody>
      </p:sp>
      <p:pic>
        <p:nvPicPr>
          <p:cNvPr id="17" name="Image 3" descr="/home/claude/icons/arrowRight_mos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4023360"/>
            <a:ext cx="219456" cy="45720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724144" y="3246120"/>
            <a:ext cx="2331720" cy="2011680"/>
          </a:xfrm>
          <a:prstGeom prst="roundRect">
            <a:avLst>
              <a:gd name="adj" fmla="val 3636"/>
            </a:avLst>
          </a:prstGeom>
          <a:solidFill>
            <a:srgbClr val="E7EFE0"/>
          </a:solidFill>
          <a:ln/>
        </p:spPr>
      </p:sp>
      <p:sp>
        <p:nvSpPr>
          <p:cNvPr id="19" name="Shape 13"/>
          <p:cNvSpPr/>
          <p:nvPr/>
        </p:nvSpPr>
        <p:spPr>
          <a:xfrm>
            <a:off x="6524244" y="352044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0" name="Image 4" descr="/home/claude/icons/whatsapp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8836" y="3685032"/>
            <a:ext cx="402336" cy="40233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815584" y="33832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5861304" y="438912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3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Kontak via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3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WhatsApp</a:t>
            </a:r>
            <a:endParaRPr lang="en-US" sz="1250" dirty="0"/>
          </a:p>
        </p:txBody>
      </p:sp>
      <p:pic>
        <p:nvPicPr>
          <p:cNvPr id="23" name="Image 5" descr="/home/claude/icons/arrowRight_mos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4152" y="4023360"/>
            <a:ext cx="219456" cy="457200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8311896" y="3246120"/>
            <a:ext cx="2331720" cy="2011680"/>
          </a:xfrm>
          <a:prstGeom prst="roundRect">
            <a:avLst>
              <a:gd name="adj" fmla="val 3636"/>
            </a:avLst>
          </a:prstGeom>
          <a:solidFill>
            <a:srgbClr val="F1D9B8"/>
          </a:solidFill>
          <a:ln/>
        </p:spPr>
      </p:sp>
      <p:sp>
        <p:nvSpPr>
          <p:cNvPr id="25" name="Shape 17"/>
          <p:cNvSpPr/>
          <p:nvPr/>
        </p:nvSpPr>
        <p:spPr>
          <a:xfrm>
            <a:off x="9111996" y="3520440"/>
            <a:ext cx="731520" cy="731520"/>
          </a:xfrm>
          <a:prstGeom prst="ellipse">
            <a:avLst/>
          </a:prstGeom>
          <a:solidFill>
            <a:srgbClr val="D97B29"/>
          </a:solidFill>
          <a:ln/>
        </p:spPr>
      </p:sp>
      <p:pic>
        <p:nvPicPr>
          <p:cNvPr id="26" name="Image 6" descr="/home/claude/icons/handshake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76588" y="3685032"/>
            <a:ext cx="402336" cy="402336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8403336" y="33832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19"/>
          <p:cNvSpPr/>
          <p:nvPr/>
        </p:nvSpPr>
        <p:spPr>
          <a:xfrm>
            <a:off x="8449056" y="438912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3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Negosiasi &amp; transaksi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3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fisik langsung</a:t>
            </a:r>
            <a:endParaRPr lang="en-US" sz="1250" dirty="0"/>
          </a:p>
        </p:txBody>
      </p:sp>
      <p:sp>
        <p:nvSpPr>
          <p:cNvPr id="29" name="Shape 20"/>
          <p:cNvSpPr/>
          <p:nvPr/>
        </p:nvSpPr>
        <p:spPr>
          <a:xfrm>
            <a:off x="6400800" y="160020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1B3D1C"/>
          </a:solidFill>
          <a:ln/>
        </p:spPr>
      </p:sp>
      <p:sp>
        <p:nvSpPr>
          <p:cNvPr id="30" name="Text 21"/>
          <p:cNvSpPr/>
          <p:nvPr/>
        </p:nvSpPr>
        <p:spPr>
          <a:xfrm>
            <a:off x="6675120" y="17373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 Komoditas</a:t>
            </a:r>
            <a:endParaRPr lang="en-US" sz="1200" dirty="0"/>
          </a:p>
        </p:txBody>
      </p:sp>
      <p:sp>
        <p:nvSpPr>
          <p:cNvPr id="31" name="Text 22"/>
          <p:cNvSpPr/>
          <p:nvPr/>
        </p:nvSpPr>
        <p:spPr>
          <a:xfrm>
            <a:off x="6675120" y="205740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Beras · Cabai · Bawang — komoditas rentan hambatan rantai pasok di tingkat pedesaan.</a:t>
            </a:r>
            <a:endParaRPr lang="en-US" sz="1300" dirty="0"/>
          </a:p>
        </p:txBody>
      </p:sp>
      <p:sp>
        <p:nvSpPr>
          <p:cNvPr id="32" name="Text 23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Juragantani — Analisis Ekosistem &amp; Aliran Nilai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E7EF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II · PEMBAHASAN 2.1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Aktor Utama Ekosistem Juragantani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10312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CE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52728" y="2167128"/>
            <a:ext cx="694944" cy="694944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7" name="Image 0" descr="/home/claude/icons/seedli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8176" y="2322576"/>
            <a:ext cx="384048" cy="38404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267712" y="2020824"/>
            <a:ext cx="329184" cy="329184"/>
          </a:xfrm>
          <a:prstGeom prst="ellipse">
            <a:avLst/>
          </a:prstGeom>
          <a:solidFill>
            <a:srgbClr val="D97B29"/>
          </a:solidFill>
          <a:ln/>
        </p:spPr>
      </p:sp>
      <p:sp>
        <p:nvSpPr>
          <p:cNvPr id="9" name="Text 6"/>
          <p:cNvSpPr/>
          <p:nvPr/>
        </p:nvSpPr>
        <p:spPr>
          <a:xfrm>
            <a:off x="2267712" y="20208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2953512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3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Petani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834640" y="1965960"/>
            <a:ext cx="210312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CE6D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38728" y="2167128"/>
            <a:ext cx="694944" cy="694944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3" name="Image 1" descr="/home/claude/icons/handshak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176" y="2322576"/>
            <a:ext cx="384048" cy="38404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553712" y="2020824"/>
            <a:ext cx="329184" cy="329184"/>
          </a:xfrm>
          <a:prstGeom prst="ellipse">
            <a:avLst/>
          </a:prstGeom>
          <a:solidFill>
            <a:srgbClr val="D97B29"/>
          </a:solidFill>
          <a:ln/>
        </p:spPr>
      </p:sp>
      <p:sp>
        <p:nvSpPr>
          <p:cNvPr id="15" name="Text 11"/>
          <p:cNvSpPr/>
          <p:nvPr/>
        </p:nvSpPr>
        <p:spPr>
          <a:xfrm>
            <a:off x="4553712" y="20208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926080" y="2953512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3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Pengepul / Bandar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120640" y="1965960"/>
            <a:ext cx="210312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CE6D4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824728" y="2167128"/>
            <a:ext cx="694944" cy="694944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9" name="Image 2" descr="/home/claude/icons/lapto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76" y="2322576"/>
            <a:ext cx="384048" cy="384048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6839712" y="2020824"/>
            <a:ext cx="329184" cy="329184"/>
          </a:xfrm>
          <a:prstGeom prst="ellipse">
            <a:avLst/>
          </a:prstGeom>
          <a:solidFill>
            <a:srgbClr val="D97B29"/>
          </a:solidFill>
          <a:ln/>
        </p:spPr>
      </p:sp>
      <p:sp>
        <p:nvSpPr>
          <p:cNvPr id="21" name="Text 16"/>
          <p:cNvSpPr/>
          <p:nvPr/>
        </p:nvSpPr>
        <p:spPr>
          <a:xfrm>
            <a:off x="6839712" y="20208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212080" y="2953512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3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Mahasiswa / Admin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7406640" y="1965960"/>
            <a:ext cx="210312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CE6D4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8110728" y="2167128"/>
            <a:ext cx="694944" cy="694944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5" name="Image 3" descr="/home/claude/icons/userShiel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6176" y="2322576"/>
            <a:ext cx="384048" cy="384048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9125712" y="2020824"/>
            <a:ext cx="329184" cy="329184"/>
          </a:xfrm>
          <a:prstGeom prst="ellipse">
            <a:avLst/>
          </a:prstGeom>
          <a:solidFill>
            <a:srgbClr val="D97B29"/>
          </a:solidFill>
          <a:ln/>
        </p:spPr>
      </p:sp>
      <p:sp>
        <p:nvSpPr>
          <p:cNvPr id="27" name="Text 21"/>
          <p:cNvSpPr/>
          <p:nvPr/>
        </p:nvSpPr>
        <p:spPr>
          <a:xfrm>
            <a:off x="9125712" y="20208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7498080" y="2953512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3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Penyuluh Pertanian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9692640" y="1965960"/>
            <a:ext cx="210312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CE6D4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10396728" y="2167128"/>
            <a:ext cx="694944" cy="694944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1" name="Image 4" descr="/home/claude/icons/user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52176" y="2322576"/>
            <a:ext cx="384048" cy="384048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11411712" y="2020824"/>
            <a:ext cx="329184" cy="329184"/>
          </a:xfrm>
          <a:prstGeom prst="ellipse">
            <a:avLst/>
          </a:prstGeom>
          <a:solidFill>
            <a:srgbClr val="D97B29"/>
          </a:solidFill>
          <a:ln/>
        </p:spPr>
      </p:sp>
      <p:sp>
        <p:nvSpPr>
          <p:cNvPr id="33" name="Text 26"/>
          <p:cNvSpPr/>
          <p:nvPr/>
        </p:nvSpPr>
        <p:spPr>
          <a:xfrm>
            <a:off x="11411712" y="20208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9784080" y="2953512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3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Tani (Gapoktan)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548640" y="4069080"/>
            <a:ext cx="210312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CE6D4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1252728" y="4270248"/>
            <a:ext cx="694944" cy="694944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7" name="Image 5" descr="/home/claude/icons/stor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8176" y="4425696"/>
            <a:ext cx="384048" cy="384048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2267712" y="4123944"/>
            <a:ext cx="329184" cy="329184"/>
          </a:xfrm>
          <a:prstGeom prst="ellipse">
            <a:avLst/>
          </a:prstGeom>
          <a:solidFill>
            <a:srgbClr val="D97B29"/>
          </a:solidFill>
          <a:ln/>
        </p:spPr>
      </p:sp>
      <p:sp>
        <p:nvSpPr>
          <p:cNvPr id="39" name="Text 31"/>
          <p:cNvSpPr/>
          <p:nvPr/>
        </p:nvSpPr>
        <p:spPr>
          <a:xfrm>
            <a:off x="2267712" y="41239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640080" y="5056632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3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Kios Saprotan</a:t>
            </a:r>
            <a:endParaRPr lang="en-US" sz="1100" dirty="0"/>
          </a:p>
        </p:txBody>
      </p:sp>
      <p:sp>
        <p:nvSpPr>
          <p:cNvPr id="41" name="Shape 33"/>
          <p:cNvSpPr/>
          <p:nvPr/>
        </p:nvSpPr>
        <p:spPr>
          <a:xfrm>
            <a:off x="2834640" y="4069080"/>
            <a:ext cx="210312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CE6D4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3538728" y="4270248"/>
            <a:ext cx="694944" cy="694944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43" name="Image 6" descr="/home/claude/icons/building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94176" y="4425696"/>
            <a:ext cx="384048" cy="384048"/>
          </a:xfrm>
          <a:prstGeom prst="rect">
            <a:avLst/>
          </a:prstGeom>
        </p:spPr>
      </p:pic>
      <p:sp>
        <p:nvSpPr>
          <p:cNvPr id="44" name="Shape 35"/>
          <p:cNvSpPr/>
          <p:nvPr/>
        </p:nvSpPr>
        <p:spPr>
          <a:xfrm>
            <a:off x="4553712" y="4123944"/>
            <a:ext cx="329184" cy="329184"/>
          </a:xfrm>
          <a:prstGeom prst="ellipse">
            <a:avLst/>
          </a:prstGeom>
          <a:solidFill>
            <a:srgbClr val="D97B29"/>
          </a:solidFill>
          <a:ln/>
        </p:spPr>
      </p:sp>
      <p:sp>
        <p:nvSpPr>
          <p:cNvPr id="45" name="Text 36"/>
          <p:cNvSpPr/>
          <p:nvPr/>
        </p:nvSpPr>
        <p:spPr>
          <a:xfrm>
            <a:off x="4553712" y="41239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6" name="Text 37"/>
          <p:cNvSpPr/>
          <p:nvPr/>
        </p:nvSpPr>
        <p:spPr>
          <a:xfrm>
            <a:off x="2926080" y="5056632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3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Pengelola Balai Desa</a:t>
            </a:r>
            <a:endParaRPr lang="en-US" sz="1100" dirty="0"/>
          </a:p>
        </p:txBody>
      </p:sp>
      <p:sp>
        <p:nvSpPr>
          <p:cNvPr id="47" name="Shape 38"/>
          <p:cNvSpPr/>
          <p:nvPr/>
        </p:nvSpPr>
        <p:spPr>
          <a:xfrm>
            <a:off x="5120640" y="4069080"/>
            <a:ext cx="210312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CE6D4"/>
            </a:solidFill>
            <a:prstDash val="solid"/>
          </a:ln>
        </p:spPr>
      </p:sp>
      <p:sp>
        <p:nvSpPr>
          <p:cNvPr id="48" name="Shape 39"/>
          <p:cNvSpPr/>
          <p:nvPr/>
        </p:nvSpPr>
        <p:spPr>
          <a:xfrm>
            <a:off x="5824728" y="4270248"/>
            <a:ext cx="694944" cy="694944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49" name="Image 7" descr="/home/claude/icons/warehouse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80176" y="4425696"/>
            <a:ext cx="384048" cy="384048"/>
          </a:xfrm>
          <a:prstGeom prst="rect">
            <a:avLst/>
          </a:prstGeom>
        </p:spPr>
      </p:pic>
      <p:sp>
        <p:nvSpPr>
          <p:cNvPr id="50" name="Shape 40"/>
          <p:cNvSpPr/>
          <p:nvPr/>
        </p:nvSpPr>
        <p:spPr>
          <a:xfrm>
            <a:off x="6839712" y="4123944"/>
            <a:ext cx="329184" cy="329184"/>
          </a:xfrm>
          <a:prstGeom prst="ellipse">
            <a:avLst/>
          </a:prstGeom>
          <a:solidFill>
            <a:srgbClr val="D97B29"/>
          </a:solidFill>
          <a:ln/>
        </p:spPr>
      </p:sp>
      <p:sp>
        <p:nvSpPr>
          <p:cNvPr id="51" name="Text 41"/>
          <p:cNvSpPr/>
          <p:nvPr/>
        </p:nvSpPr>
        <p:spPr>
          <a:xfrm>
            <a:off x="6839712" y="41239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2" name="Text 42"/>
          <p:cNvSpPr/>
          <p:nvPr/>
        </p:nvSpPr>
        <p:spPr>
          <a:xfrm>
            <a:off x="5212080" y="5056632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3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 Induk &amp; Gudang</a:t>
            </a:r>
            <a:endParaRPr lang="en-US" sz="1100" dirty="0"/>
          </a:p>
        </p:txBody>
      </p:sp>
      <p:sp>
        <p:nvSpPr>
          <p:cNvPr id="53" name="Shape 43"/>
          <p:cNvSpPr/>
          <p:nvPr/>
        </p:nvSpPr>
        <p:spPr>
          <a:xfrm>
            <a:off x="7406640" y="4069080"/>
            <a:ext cx="210312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CE6D4"/>
            </a:solidFill>
            <a:prstDash val="solid"/>
          </a:ln>
        </p:spPr>
      </p:sp>
      <p:sp>
        <p:nvSpPr>
          <p:cNvPr id="54" name="Shape 44"/>
          <p:cNvSpPr/>
          <p:nvPr/>
        </p:nvSpPr>
        <p:spPr>
          <a:xfrm>
            <a:off x="8110728" y="4270248"/>
            <a:ext cx="694944" cy="694944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55" name="Image 8" descr="/home/claude/icons/bank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66176" y="4425696"/>
            <a:ext cx="384048" cy="384048"/>
          </a:xfrm>
          <a:prstGeom prst="rect">
            <a:avLst/>
          </a:prstGeom>
        </p:spPr>
      </p:pic>
      <p:sp>
        <p:nvSpPr>
          <p:cNvPr id="56" name="Shape 45"/>
          <p:cNvSpPr/>
          <p:nvPr/>
        </p:nvSpPr>
        <p:spPr>
          <a:xfrm>
            <a:off x="9125712" y="4123944"/>
            <a:ext cx="329184" cy="329184"/>
          </a:xfrm>
          <a:prstGeom prst="ellipse">
            <a:avLst/>
          </a:prstGeom>
          <a:solidFill>
            <a:srgbClr val="D97B29"/>
          </a:solidFill>
          <a:ln/>
        </p:spPr>
      </p:sp>
      <p:sp>
        <p:nvSpPr>
          <p:cNvPr id="57" name="Text 46"/>
          <p:cNvSpPr/>
          <p:nvPr/>
        </p:nvSpPr>
        <p:spPr>
          <a:xfrm>
            <a:off x="9125712" y="41239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58" name="Text 47"/>
          <p:cNvSpPr/>
          <p:nvPr/>
        </p:nvSpPr>
        <p:spPr>
          <a:xfrm>
            <a:off x="7498080" y="5056632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3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Dinas Pertanian</a:t>
            </a:r>
            <a:endParaRPr lang="en-US" sz="1100" dirty="0"/>
          </a:p>
        </p:txBody>
      </p:sp>
      <p:sp>
        <p:nvSpPr>
          <p:cNvPr id="59" name="Shape 48"/>
          <p:cNvSpPr/>
          <p:nvPr/>
        </p:nvSpPr>
        <p:spPr>
          <a:xfrm>
            <a:off x="9692640" y="4069080"/>
            <a:ext cx="210312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CE6D4"/>
            </a:solidFill>
            <a:prstDash val="solid"/>
          </a:ln>
        </p:spPr>
      </p:sp>
      <p:sp>
        <p:nvSpPr>
          <p:cNvPr id="60" name="Shape 49"/>
          <p:cNvSpPr/>
          <p:nvPr/>
        </p:nvSpPr>
        <p:spPr>
          <a:xfrm>
            <a:off x="10396728" y="4270248"/>
            <a:ext cx="694944" cy="694944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61" name="Image 9" descr="/home/claude/icons/whatsapp_whi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2176" y="4425696"/>
            <a:ext cx="384048" cy="384048"/>
          </a:xfrm>
          <a:prstGeom prst="rect">
            <a:avLst/>
          </a:prstGeom>
        </p:spPr>
      </p:pic>
      <p:sp>
        <p:nvSpPr>
          <p:cNvPr id="62" name="Shape 50"/>
          <p:cNvSpPr/>
          <p:nvPr/>
        </p:nvSpPr>
        <p:spPr>
          <a:xfrm>
            <a:off x="11411712" y="4123944"/>
            <a:ext cx="329184" cy="329184"/>
          </a:xfrm>
          <a:prstGeom prst="ellipse">
            <a:avLst/>
          </a:prstGeom>
          <a:solidFill>
            <a:srgbClr val="D97B29"/>
          </a:solidFill>
          <a:ln/>
        </p:spPr>
      </p:sp>
      <p:sp>
        <p:nvSpPr>
          <p:cNvPr id="63" name="Text 51"/>
          <p:cNvSpPr/>
          <p:nvPr/>
        </p:nvSpPr>
        <p:spPr>
          <a:xfrm>
            <a:off x="11411712" y="41239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64" name="Text 52"/>
          <p:cNvSpPr/>
          <p:nvPr/>
        </p:nvSpPr>
        <p:spPr>
          <a:xfrm>
            <a:off x="9784080" y="5056632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3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Penyedia WhatsApp (Meta)</a:t>
            </a:r>
            <a:endParaRPr lang="en-US" sz="1100" dirty="0"/>
          </a:p>
        </p:txBody>
      </p:sp>
      <p:sp>
        <p:nvSpPr>
          <p:cNvPr id="65" name="Text 53"/>
          <p:cNvSpPr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Kombinasi aktor teknis, penyedia informasi lapangan, sarana promosi fisik, hingga pendukung regulasi pedesaan.</a:t>
            </a:r>
            <a:endParaRPr lang="en-US" sz="1150" dirty="0"/>
          </a:p>
        </p:txBody>
      </p:sp>
      <p:sp>
        <p:nvSpPr>
          <p:cNvPr id="66" name="Text 54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Juragantani — Analisis Ekosistem &amp; Aliran Nilai</a:t>
            </a:r>
            <a:endParaRPr lang="en-US" sz="900" dirty="0"/>
          </a:p>
        </p:txBody>
      </p:sp>
      <p:sp>
        <p:nvSpPr>
          <p:cNvPr id="67" name="Text 55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E7EF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II · 2.1 IDENTIFIKASI AKTOR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Peran Aktor 1–5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121408" cy="4160520"/>
          </a:xfrm>
          <a:prstGeom prst="roundRect">
            <a:avLst>
              <a:gd name="adj" fmla="val 3448"/>
            </a:avLst>
          </a:prstGeom>
          <a:solidFill>
            <a:srgbClr val="E7EFE0"/>
          </a:solidFill>
          <a:ln/>
        </p:spPr>
      </p:sp>
      <p:sp>
        <p:nvSpPr>
          <p:cNvPr id="6" name="Shape 4"/>
          <p:cNvSpPr/>
          <p:nvPr/>
        </p:nvSpPr>
        <p:spPr>
          <a:xfrm>
            <a:off x="1280160" y="2240280"/>
            <a:ext cx="658368" cy="65836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7" name="Image 0" descr="/home/claude/icons/seedli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6464" y="2386584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3017520"/>
            <a:ext cx="19019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3D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Petani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58368" y="3538728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D9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 UTAMA / PENJUAL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914400" y="3904488"/>
            <a:ext cx="1389888" cy="0"/>
          </a:xfrm>
          <a:prstGeom prst="line">
            <a:avLst/>
          </a:prstGeom>
          <a:noFill/>
          <a:ln w="12700">
            <a:solidFill>
              <a:srgbClr val="C7D9B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3995928"/>
            <a:ext cx="184708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Memproduksi komoditas (beras, cabai, bawang); memanfaatkan direktori web untuk memfilter &amp; memilih pengepul lokal; menginisiasi komunikasi via template WhatsApp.</a:t>
            </a:r>
            <a:endParaRPr lang="en-US" sz="980" dirty="0"/>
          </a:p>
        </p:txBody>
      </p:sp>
      <p:sp>
        <p:nvSpPr>
          <p:cNvPr id="12" name="Shape 9"/>
          <p:cNvSpPr/>
          <p:nvPr/>
        </p:nvSpPr>
        <p:spPr>
          <a:xfrm>
            <a:off x="2798064" y="1965960"/>
            <a:ext cx="2121408" cy="4160520"/>
          </a:xfrm>
          <a:prstGeom prst="roundRect">
            <a:avLst>
              <a:gd name="adj" fmla="val 3448"/>
            </a:avLst>
          </a:prstGeom>
          <a:solidFill>
            <a:srgbClr val="E7EFE0"/>
          </a:solidFill>
          <a:ln/>
        </p:spPr>
      </p:sp>
      <p:sp>
        <p:nvSpPr>
          <p:cNvPr id="13" name="Shape 10"/>
          <p:cNvSpPr/>
          <p:nvPr/>
        </p:nvSpPr>
        <p:spPr>
          <a:xfrm>
            <a:off x="3529584" y="2240280"/>
            <a:ext cx="658368" cy="65836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4" name="Image 1" descr="/home/claude/icons/handshak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2386584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907792" y="3017520"/>
            <a:ext cx="19019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3D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Pengepul / Bandar Lokal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2907792" y="3538728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D9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MITRA PENAMPUNG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3163824" y="3904488"/>
            <a:ext cx="1389888" cy="0"/>
          </a:xfrm>
          <a:prstGeom prst="line">
            <a:avLst/>
          </a:prstGeom>
          <a:noFill/>
          <a:ln w="12700">
            <a:solidFill>
              <a:srgbClr val="C7D9B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935224" y="3995928"/>
            <a:ext cx="184708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Menyediakan data operasional (lokasi, komoditas, kapasitas tampung); menerima penawaran petani; melakukan negosiasi harga &amp; transaksi jual-beli fisik.</a:t>
            </a:r>
            <a:endParaRPr lang="en-US" sz="980" dirty="0"/>
          </a:p>
        </p:txBody>
      </p:sp>
      <p:sp>
        <p:nvSpPr>
          <p:cNvPr id="19" name="Shape 15"/>
          <p:cNvSpPr/>
          <p:nvPr/>
        </p:nvSpPr>
        <p:spPr>
          <a:xfrm>
            <a:off x="5047488" y="1965960"/>
            <a:ext cx="2121408" cy="4160520"/>
          </a:xfrm>
          <a:prstGeom prst="roundRect">
            <a:avLst>
              <a:gd name="adj" fmla="val 3448"/>
            </a:avLst>
          </a:prstGeom>
          <a:solidFill>
            <a:srgbClr val="E7EFE0"/>
          </a:solidFill>
          <a:ln/>
        </p:spPr>
      </p:sp>
      <p:sp>
        <p:nvSpPr>
          <p:cNvPr id="20" name="Shape 16"/>
          <p:cNvSpPr/>
          <p:nvPr/>
        </p:nvSpPr>
        <p:spPr>
          <a:xfrm>
            <a:off x="5779008" y="2240280"/>
            <a:ext cx="658368" cy="65836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1" name="Image 2" descr="/home/claude/icons/lapto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312" y="2386584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157216" y="3017520"/>
            <a:ext cx="19019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3D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Tim Mahasiswa / Admin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5157216" y="3538728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D9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PENGELOLA DATA &amp; SISTEM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5413248" y="3904488"/>
            <a:ext cx="1389888" cy="0"/>
          </a:xfrm>
          <a:prstGeom prst="line">
            <a:avLst/>
          </a:prstGeom>
          <a:noFill/>
          <a:ln w="12700">
            <a:solidFill>
              <a:srgbClr val="C7D9BC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184648" y="3995928"/>
            <a:ext cx="184708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Riset lapangan (sourcing data pengepul); verifikasi keaktifan nomor WA &amp; kesediaan pengepul; mengelola database panel admin; pemeliharaan data berkala.</a:t>
            </a:r>
            <a:endParaRPr lang="en-US" sz="980" dirty="0"/>
          </a:p>
        </p:txBody>
      </p:sp>
      <p:sp>
        <p:nvSpPr>
          <p:cNvPr id="26" name="Shape 21"/>
          <p:cNvSpPr/>
          <p:nvPr/>
        </p:nvSpPr>
        <p:spPr>
          <a:xfrm>
            <a:off x="7296912" y="1965960"/>
            <a:ext cx="2121408" cy="4160520"/>
          </a:xfrm>
          <a:prstGeom prst="roundRect">
            <a:avLst>
              <a:gd name="adj" fmla="val 3448"/>
            </a:avLst>
          </a:prstGeom>
          <a:solidFill>
            <a:srgbClr val="E7EFE0"/>
          </a:solidFill>
          <a:ln/>
        </p:spPr>
      </p:sp>
      <p:sp>
        <p:nvSpPr>
          <p:cNvPr id="27" name="Shape 22"/>
          <p:cNvSpPr/>
          <p:nvPr/>
        </p:nvSpPr>
        <p:spPr>
          <a:xfrm>
            <a:off x="8028432" y="2240280"/>
            <a:ext cx="658368" cy="65836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8" name="Image 3" descr="/home/claude/icons/userShiel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2386584"/>
            <a:ext cx="365760" cy="3657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406640" y="3017520"/>
            <a:ext cx="19019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3D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Penyuluh Pertanian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7406640" y="3538728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D9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FASILITATOR LAPANGAN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7662672" y="3904488"/>
            <a:ext cx="1389888" cy="0"/>
          </a:xfrm>
          <a:prstGeom prst="line">
            <a:avLst/>
          </a:prstGeom>
          <a:noFill/>
          <a:ln w="12700">
            <a:solidFill>
              <a:srgbClr val="C7D9BC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7434072" y="3995928"/>
            <a:ext cx="184708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awal data pengepul di daerah; memberi referensi jaringan tengkulak/koperasi; mensosialisasikan platform kepada kelompok tani binaan.</a:t>
            </a:r>
            <a:endParaRPr lang="en-US" sz="980" dirty="0"/>
          </a:p>
        </p:txBody>
      </p:sp>
      <p:sp>
        <p:nvSpPr>
          <p:cNvPr id="33" name="Shape 27"/>
          <p:cNvSpPr/>
          <p:nvPr/>
        </p:nvSpPr>
        <p:spPr>
          <a:xfrm>
            <a:off x="9546336" y="1965960"/>
            <a:ext cx="2121408" cy="4160520"/>
          </a:xfrm>
          <a:prstGeom prst="roundRect">
            <a:avLst>
              <a:gd name="adj" fmla="val 3448"/>
            </a:avLst>
          </a:prstGeom>
          <a:solidFill>
            <a:srgbClr val="E7EFE0"/>
          </a:solidFill>
          <a:ln/>
        </p:spPr>
      </p:sp>
      <p:sp>
        <p:nvSpPr>
          <p:cNvPr id="34" name="Shape 28"/>
          <p:cNvSpPr/>
          <p:nvPr/>
        </p:nvSpPr>
        <p:spPr>
          <a:xfrm>
            <a:off x="10277856" y="2240280"/>
            <a:ext cx="658368" cy="65836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5" name="Image 4" descr="/home/claude/icons/user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4160" y="2386584"/>
            <a:ext cx="365760" cy="36576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9656064" y="3017520"/>
            <a:ext cx="19019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3D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Kelompok Tani / Gapoktan</a:t>
            </a:r>
            <a:endParaRPr lang="en-US" sz="1350" dirty="0"/>
          </a:p>
        </p:txBody>
      </p:sp>
      <p:sp>
        <p:nvSpPr>
          <p:cNvPr id="37" name="Text 30"/>
          <p:cNvSpPr/>
          <p:nvPr/>
        </p:nvSpPr>
        <p:spPr>
          <a:xfrm>
            <a:off x="9656064" y="3538728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D9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MITRA KOMUNITAS</a:t>
            </a:r>
            <a:endParaRPr lang="en-US" sz="900" dirty="0"/>
          </a:p>
        </p:txBody>
      </p:sp>
      <p:sp>
        <p:nvSpPr>
          <p:cNvPr id="38" name="Shape 31"/>
          <p:cNvSpPr/>
          <p:nvPr/>
        </p:nvSpPr>
        <p:spPr>
          <a:xfrm>
            <a:off x="9912096" y="3904488"/>
            <a:ext cx="1389888" cy="0"/>
          </a:xfrm>
          <a:prstGeom prst="line">
            <a:avLst/>
          </a:prstGeom>
          <a:noFill/>
          <a:ln w="12700">
            <a:solidFill>
              <a:srgbClr val="C7D9BC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9683496" y="3995928"/>
            <a:ext cx="184708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Jembatan komunikasi kolektif di tingkat desa; menyebarkan tautan platform ke grup percakapan petani; membantu pembaruan data kondisi panen anggota.</a:t>
            </a:r>
            <a:endParaRPr lang="en-US" sz="980" dirty="0"/>
          </a:p>
        </p:txBody>
      </p:sp>
      <p:sp>
        <p:nvSpPr>
          <p:cNvPr id="40" name="Text 33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Juragantani — Analisis Ekosistem &amp; Aliran Nilai</a:t>
            </a:r>
            <a:endParaRPr lang="en-US" sz="900" dirty="0"/>
          </a:p>
        </p:txBody>
      </p:sp>
      <p:sp>
        <p:nvSpPr>
          <p:cNvPr id="41" name="Text 34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E7EF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II · 2.1 IDENTIFIKASI AKTOR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Peran Aktor 6–10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121408" cy="4160520"/>
          </a:xfrm>
          <a:prstGeom prst="roundRect">
            <a:avLst>
              <a:gd name="adj" fmla="val 3448"/>
            </a:avLst>
          </a:prstGeom>
          <a:solidFill>
            <a:srgbClr val="E7EFE0"/>
          </a:solidFill>
          <a:ln/>
        </p:spPr>
      </p:sp>
      <p:sp>
        <p:nvSpPr>
          <p:cNvPr id="6" name="Shape 4"/>
          <p:cNvSpPr/>
          <p:nvPr/>
        </p:nvSpPr>
        <p:spPr>
          <a:xfrm>
            <a:off x="1280160" y="2240280"/>
            <a:ext cx="658368" cy="65836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7" name="Image 0" descr="/home/claude/icons/stor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6464" y="2386584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3017520"/>
            <a:ext cx="19019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3D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Kios Saprotan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58368" y="3538728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D9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PROMOSI FISIK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914400" y="3904488"/>
            <a:ext cx="1389888" cy="0"/>
          </a:xfrm>
          <a:prstGeom prst="line">
            <a:avLst/>
          </a:prstGeom>
          <a:noFill/>
          <a:ln w="12700">
            <a:solidFill>
              <a:srgbClr val="C7D9B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3995928"/>
            <a:ext cx="184708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Memfasilitasi penempatan media promosi cetak (poster/stiker QR Code) sebagai titik sentuh (touchpoint) saat petani membeli pupuk atau benih.</a:t>
            </a:r>
            <a:endParaRPr lang="en-US" sz="980" dirty="0"/>
          </a:p>
        </p:txBody>
      </p:sp>
      <p:sp>
        <p:nvSpPr>
          <p:cNvPr id="12" name="Shape 9"/>
          <p:cNvSpPr/>
          <p:nvPr/>
        </p:nvSpPr>
        <p:spPr>
          <a:xfrm>
            <a:off x="2798064" y="1965960"/>
            <a:ext cx="2121408" cy="4160520"/>
          </a:xfrm>
          <a:prstGeom prst="roundRect">
            <a:avLst>
              <a:gd name="adj" fmla="val 3448"/>
            </a:avLst>
          </a:prstGeom>
          <a:solidFill>
            <a:srgbClr val="E7EFE0"/>
          </a:solidFill>
          <a:ln/>
        </p:spPr>
      </p:sp>
      <p:sp>
        <p:nvSpPr>
          <p:cNvPr id="13" name="Shape 10"/>
          <p:cNvSpPr/>
          <p:nvPr/>
        </p:nvSpPr>
        <p:spPr>
          <a:xfrm>
            <a:off x="3529584" y="2240280"/>
            <a:ext cx="658368" cy="65836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4" name="Image 1" descr="/home/claude/icons/buildin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2386584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907792" y="3017520"/>
            <a:ext cx="19019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3D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 Pengelola Balai Desa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2907792" y="3538728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D9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INFRASTRUKTUR SOSIAL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3163824" y="3904488"/>
            <a:ext cx="1389888" cy="0"/>
          </a:xfrm>
          <a:prstGeom prst="line">
            <a:avLst/>
          </a:prstGeom>
          <a:noFill/>
          <a:ln w="12700">
            <a:solidFill>
              <a:srgbClr val="C7D9B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935224" y="3995928"/>
            <a:ext cx="184708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Menyediakan ruang sosialisasi kelembagaan desa; memfasilitasi penempelan poster QR Code di papan pengumuman; mendorong adopsi teknologi pedesaan.</a:t>
            </a:r>
            <a:endParaRPr lang="en-US" sz="980" dirty="0"/>
          </a:p>
        </p:txBody>
      </p:sp>
      <p:sp>
        <p:nvSpPr>
          <p:cNvPr id="19" name="Shape 15"/>
          <p:cNvSpPr/>
          <p:nvPr/>
        </p:nvSpPr>
        <p:spPr>
          <a:xfrm>
            <a:off x="5047488" y="1965960"/>
            <a:ext cx="2121408" cy="4160520"/>
          </a:xfrm>
          <a:prstGeom prst="roundRect">
            <a:avLst>
              <a:gd name="adj" fmla="val 3448"/>
            </a:avLst>
          </a:prstGeom>
          <a:solidFill>
            <a:srgbClr val="E7EFE0"/>
          </a:solidFill>
          <a:ln/>
        </p:spPr>
      </p:sp>
      <p:sp>
        <p:nvSpPr>
          <p:cNvPr id="20" name="Shape 16"/>
          <p:cNvSpPr/>
          <p:nvPr/>
        </p:nvSpPr>
        <p:spPr>
          <a:xfrm>
            <a:off x="5779008" y="2240280"/>
            <a:ext cx="658368" cy="65836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1" name="Image 2" descr="/home/claude/icons/warehous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312" y="2386584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157216" y="3017520"/>
            <a:ext cx="19019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3D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 Pasar Induk &amp; Gudang Gabah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5157216" y="3538728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D9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 DATA PASAR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5413248" y="3904488"/>
            <a:ext cx="1389888" cy="0"/>
          </a:xfrm>
          <a:prstGeom prst="line">
            <a:avLst/>
          </a:prstGeom>
          <a:noFill/>
          <a:ln w="12700">
            <a:solidFill>
              <a:srgbClr val="C7D9BC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184648" y="3995928"/>
            <a:ext cx="184708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Lokasi fisik target sourcing data bagi tim pengelola untuk mendata bandar skala menengah-besar berkapasitas serap komoditas tinggi.</a:t>
            </a:r>
            <a:endParaRPr lang="en-US" sz="980" dirty="0"/>
          </a:p>
        </p:txBody>
      </p:sp>
      <p:sp>
        <p:nvSpPr>
          <p:cNvPr id="26" name="Shape 21"/>
          <p:cNvSpPr/>
          <p:nvPr/>
        </p:nvSpPr>
        <p:spPr>
          <a:xfrm>
            <a:off x="7296912" y="1965960"/>
            <a:ext cx="2121408" cy="4160520"/>
          </a:xfrm>
          <a:prstGeom prst="roundRect">
            <a:avLst>
              <a:gd name="adj" fmla="val 3448"/>
            </a:avLst>
          </a:prstGeom>
          <a:solidFill>
            <a:srgbClr val="E7EFE0"/>
          </a:solidFill>
          <a:ln/>
        </p:spPr>
      </p:sp>
      <p:sp>
        <p:nvSpPr>
          <p:cNvPr id="27" name="Shape 22"/>
          <p:cNvSpPr/>
          <p:nvPr/>
        </p:nvSpPr>
        <p:spPr>
          <a:xfrm>
            <a:off x="8028432" y="2240280"/>
            <a:ext cx="658368" cy="65836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8" name="Image 3" descr="/home/claude/icons/ban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2386584"/>
            <a:ext cx="365760" cy="3657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406640" y="3017520"/>
            <a:ext cx="19019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3D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 Dinas Pertanian Setempat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7406640" y="3538728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D9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REGULATOR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7662672" y="3904488"/>
            <a:ext cx="1389888" cy="0"/>
          </a:xfrm>
          <a:prstGeom prst="line">
            <a:avLst/>
          </a:prstGeom>
          <a:noFill/>
          <a:ln w="12700">
            <a:solidFill>
              <a:srgbClr val="C7D9BC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7434072" y="3995928"/>
            <a:ext cx="184708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Memberikan dukungan legalitas; menyediakan data awal asosiasi/koperasi penampung hasil tani; menyelaraskan program dengan kebijakan ketahanan pangan.</a:t>
            </a:r>
            <a:endParaRPr lang="en-US" sz="980" dirty="0"/>
          </a:p>
        </p:txBody>
      </p:sp>
      <p:sp>
        <p:nvSpPr>
          <p:cNvPr id="33" name="Shape 27"/>
          <p:cNvSpPr/>
          <p:nvPr/>
        </p:nvSpPr>
        <p:spPr>
          <a:xfrm>
            <a:off x="9546336" y="1965960"/>
            <a:ext cx="2121408" cy="4160520"/>
          </a:xfrm>
          <a:prstGeom prst="roundRect">
            <a:avLst>
              <a:gd name="adj" fmla="val 3448"/>
            </a:avLst>
          </a:prstGeom>
          <a:solidFill>
            <a:srgbClr val="E7EFE0"/>
          </a:solidFill>
          <a:ln/>
        </p:spPr>
      </p:sp>
      <p:sp>
        <p:nvSpPr>
          <p:cNvPr id="34" name="Shape 28"/>
          <p:cNvSpPr/>
          <p:nvPr/>
        </p:nvSpPr>
        <p:spPr>
          <a:xfrm>
            <a:off x="10277856" y="2240280"/>
            <a:ext cx="658368" cy="65836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5" name="Image 4" descr="/home/claude/icons/whatsapp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4160" y="2386584"/>
            <a:ext cx="365760" cy="36576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9656064" y="3017520"/>
            <a:ext cx="19019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3D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 Penyedia WhatsApp (Meta)</a:t>
            </a:r>
            <a:endParaRPr lang="en-US" sz="1350" dirty="0"/>
          </a:p>
        </p:txBody>
      </p:sp>
      <p:sp>
        <p:nvSpPr>
          <p:cNvPr id="37" name="Text 30"/>
          <p:cNvSpPr/>
          <p:nvPr/>
        </p:nvSpPr>
        <p:spPr>
          <a:xfrm>
            <a:off x="9656064" y="3538728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D9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KANAL KOMUNIKASI LUAR</a:t>
            </a:r>
            <a:endParaRPr lang="en-US" sz="900" dirty="0"/>
          </a:p>
        </p:txBody>
      </p:sp>
      <p:sp>
        <p:nvSpPr>
          <p:cNvPr id="38" name="Shape 31"/>
          <p:cNvSpPr/>
          <p:nvPr/>
        </p:nvSpPr>
        <p:spPr>
          <a:xfrm>
            <a:off x="9912096" y="3904488"/>
            <a:ext cx="1389888" cy="0"/>
          </a:xfrm>
          <a:prstGeom prst="line">
            <a:avLst/>
          </a:prstGeom>
          <a:noFill/>
          <a:ln w="12700">
            <a:solidFill>
              <a:srgbClr val="C7D9BC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9683496" y="3995928"/>
            <a:ext cx="184708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Menyediakan infrastruktur pengiriman pesan otomatis (URL scheme wa.me) yang menghubungkan petani ke pengepul sebagai exit point dari sistem.</a:t>
            </a:r>
            <a:endParaRPr lang="en-US" sz="980" dirty="0"/>
          </a:p>
        </p:txBody>
      </p:sp>
      <p:sp>
        <p:nvSpPr>
          <p:cNvPr id="40" name="Text 33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Juragantani — Analisis Ekosistem &amp; Aliran Nilai</a:t>
            </a:r>
            <a:endParaRPr lang="en-US" sz="900" dirty="0"/>
          </a:p>
        </p:txBody>
      </p:sp>
      <p:sp>
        <p:nvSpPr>
          <p:cNvPr id="41" name="Text 34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E7EF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II · 2.2 VALUE FLOW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Gambaran Hubungan &amp; Aliran Nilai Ekosistem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Karena Juragantani tidak mengelola aliran uang secara digital, nilai berpusat pada keakuratan data, kepercayaan, efisiensi waktu, dan kepastian pasar.</a:t>
            </a:r>
            <a:endParaRPr lang="en-US" sz="1250" dirty="0"/>
          </a:p>
        </p:txBody>
      </p:sp>
      <p:pic>
        <p:nvPicPr>
          <p:cNvPr id="6" name="Image 0" descr="/home/claude/valueflow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40280"/>
            <a:ext cx="10515600" cy="40416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Juragantani — Analisis Ekosistem &amp; Aliran Nilai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E7EF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II · 2.3 RINCIAN ALUR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Analisis Rincian Aliran Nilai Antar-Aktor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64240" cy="516636"/>
          </a:xfrm>
          <a:prstGeom prst="roundRect">
            <a:avLst>
              <a:gd name="adj" fmla="val 8850"/>
            </a:avLst>
          </a:prstGeom>
          <a:solidFill>
            <a:srgbClr val="FFFFFF"/>
          </a:solidFill>
          <a:ln w="12700">
            <a:solidFill>
              <a:srgbClr val="DCE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74520"/>
            <a:ext cx="352044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Dinas Pertanian, Pasar Induk, Penyuluh</a:t>
            </a:r>
            <a:endParaRPr lang="en-US" sz="1050" dirty="0"/>
          </a:p>
        </p:txBody>
      </p:sp>
      <p:pic>
        <p:nvPicPr>
          <p:cNvPr id="7" name="Image 0" descr="/home/claude/icons/arrowRight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5968" y="2013966"/>
            <a:ext cx="292608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709160" y="1874520"/>
            <a:ext cx="233172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Admin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178040" y="1874520"/>
            <a:ext cx="434340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referensi primer: lokasi gudang, daftar pengepul aktif, estimasi jadwal panen.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" y="2482596"/>
            <a:ext cx="11064240" cy="516636"/>
          </a:xfrm>
          <a:prstGeom prst="roundRect">
            <a:avLst>
              <a:gd name="adj" fmla="val 8850"/>
            </a:avLst>
          </a:prstGeom>
          <a:solidFill>
            <a:srgbClr val="FFFFFF"/>
          </a:solidFill>
          <a:ln w="12700">
            <a:solidFill>
              <a:srgbClr val="DCE6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2482596"/>
            <a:ext cx="352044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Admin</a:t>
            </a:r>
            <a:endParaRPr lang="en-US" sz="1050" dirty="0"/>
          </a:p>
        </p:txBody>
      </p:sp>
      <p:pic>
        <p:nvPicPr>
          <p:cNvPr id="12" name="Image 1" descr="/home/claude/icons/arrowRight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968" y="2622042"/>
            <a:ext cx="292608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9160" y="2482596"/>
            <a:ext cx="233172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Pengepul / Bandar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7178040" y="2482596"/>
            <a:ext cx="434340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Publikasi profil usaha gratis, perluasan jangkauan akuisisi, label “Terverifikasi”.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48640" y="3090672"/>
            <a:ext cx="11064240" cy="516636"/>
          </a:xfrm>
          <a:prstGeom prst="roundRect">
            <a:avLst>
              <a:gd name="adj" fmla="val 8850"/>
            </a:avLst>
          </a:prstGeom>
          <a:solidFill>
            <a:srgbClr val="FFFFFF"/>
          </a:solidFill>
          <a:ln w="12700">
            <a:solidFill>
              <a:srgbClr val="DCE6D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31520" y="3090672"/>
            <a:ext cx="352044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Admin</a:t>
            </a:r>
            <a:endParaRPr lang="en-US" sz="1050" dirty="0"/>
          </a:p>
        </p:txBody>
      </p:sp>
      <p:pic>
        <p:nvPicPr>
          <p:cNvPr id="17" name="Image 2" descr="/home/claude/icons/arrowRight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5968" y="3230118"/>
            <a:ext cx="292608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709160" y="3090672"/>
            <a:ext cx="233172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Petani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7178040" y="3090672"/>
            <a:ext cx="434340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Efisiensi pencarian kontak terkategori lokasi &amp; komoditas + template pesan otomatis.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48640" y="3698748"/>
            <a:ext cx="11064240" cy="516636"/>
          </a:xfrm>
          <a:prstGeom prst="roundRect">
            <a:avLst>
              <a:gd name="adj" fmla="val 8850"/>
            </a:avLst>
          </a:prstGeom>
          <a:solidFill>
            <a:srgbClr val="FFFFFF"/>
          </a:solidFill>
          <a:ln w="12700">
            <a:solidFill>
              <a:srgbClr val="DCE6D4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731520" y="3698748"/>
            <a:ext cx="352044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Saprotan, Gapoktan, Balai Desa</a:t>
            </a:r>
            <a:endParaRPr lang="en-US" sz="1050" dirty="0"/>
          </a:p>
        </p:txBody>
      </p:sp>
      <p:pic>
        <p:nvPicPr>
          <p:cNvPr id="22" name="Image 3" descr="/home/claude/icons/arrowRight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968" y="3838194"/>
            <a:ext cx="292608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709160" y="3698748"/>
            <a:ext cx="233172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Petani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7178040" y="3698748"/>
            <a:ext cx="434340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Fasilitasi aksesibilitas via kode QR &amp; tautan langsung di titik aktivitas komunitas.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548640" y="4306824"/>
            <a:ext cx="11064240" cy="516636"/>
          </a:xfrm>
          <a:prstGeom prst="roundRect">
            <a:avLst>
              <a:gd name="adj" fmla="val 8850"/>
            </a:avLst>
          </a:prstGeom>
          <a:solidFill>
            <a:srgbClr val="FFFFFF"/>
          </a:solidFill>
          <a:ln w="12700">
            <a:solidFill>
              <a:srgbClr val="DCE6D4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731520" y="4306824"/>
            <a:ext cx="352044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Petani</a:t>
            </a:r>
            <a:endParaRPr lang="en-US" sz="1050" dirty="0"/>
          </a:p>
        </p:txBody>
      </p:sp>
      <p:pic>
        <p:nvPicPr>
          <p:cNvPr id="27" name="Image 4" descr="/home/claude/icons/arrowRight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5968" y="4446270"/>
            <a:ext cx="292608" cy="23774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709160" y="4306824"/>
            <a:ext cx="233172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Pengepul (via WhatsApp)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7178040" y="4306824"/>
            <a:ext cx="434340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Informasi pasokan siap jual: jenis, estimasi volume, dan titik lokasi pengambilan.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548640" y="4914900"/>
            <a:ext cx="11064240" cy="516636"/>
          </a:xfrm>
          <a:prstGeom prst="roundRect">
            <a:avLst>
              <a:gd name="adj" fmla="val 8850"/>
            </a:avLst>
          </a:prstGeom>
          <a:solidFill>
            <a:srgbClr val="FFFFFF"/>
          </a:solidFill>
          <a:ln w="12700">
            <a:solidFill>
              <a:srgbClr val="DCE6D4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731520" y="4914900"/>
            <a:ext cx="352044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Pengepul ↔ Petani</a:t>
            </a:r>
            <a:endParaRPr lang="en-US" sz="1050" dirty="0"/>
          </a:p>
        </p:txBody>
      </p:sp>
      <p:pic>
        <p:nvPicPr>
          <p:cNvPr id="32" name="Image 5" descr="/home/claude/icons/arrowRight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5968" y="5054346"/>
            <a:ext cx="292608" cy="23774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4709160" y="4914900"/>
            <a:ext cx="233172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(Offline)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7178040" y="4914900"/>
            <a:ext cx="434340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Realisasi nilai ekonomi: serah terima fisik komoditas &amp; penyelesaian pembayaran.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548640" y="5522976"/>
            <a:ext cx="11064240" cy="516636"/>
          </a:xfrm>
          <a:prstGeom prst="roundRect">
            <a:avLst>
              <a:gd name="adj" fmla="val 8850"/>
            </a:avLst>
          </a:prstGeom>
          <a:solidFill>
            <a:srgbClr val="FFFFFF"/>
          </a:solidFill>
          <a:ln w="12700">
            <a:solidFill>
              <a:srgbClr val="DCE6D4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731520" y="5522976"/>
            <a:ext cx="352044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Petani</a:t>
            </a:r>
            <a:endParaRPr lang="en-US" sz="1050" dirty="0"/>
          </a:p>
        </p:txBody>
      </p:sp>
      <p:pic>
        <p:nvPicPr>
          <p:cNvPr id="37" name="Image 6" descr="/home/claude/icons/arrowRight_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5968" y="5662422"/>
            <a:ext cx="292608" cy="23774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4709160" y="5522976"/>
            <a:ext cx="233172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Admin (Umpan Balik)</a:t>
            </a:r>
            <a:endParaRPr lang="en-US" sz="1050" dirty="0"/>
          </a:p>
        </p:txBody>
      </p:sp>
      <p:sp>
        <p:nvSpPr>
          <p:cNvPr id="39" name="Text 30"/>
          <p:cNvSpPr/>
          <p:nvPr/>
        </p:nvSpPr>
        <p:spPr>
          <a:xfrm>
            <a:off x="7178040" y="5522976"/>
            <a:ext cx="434340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evaluasi status &amp; responsivitas pengepul untuk kontrol akurasi data.</a:t>
            </a:r>
            <a:endParaRPr lang="en-US" sz="1000" dirty="0"/>
          </a:p>
        </p:txBody>
      </p:sp>
      <p:sp>
        <p:nvSpPr>
          <p:cNvPr id="40" name="Text 31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Juragantani — Analisis Ekosistem &amp; Aliran Nilai</a:t>
            </a:r>
            <a:endParaRPr lang="en-US" sz="900" dirty="0"/>
          </a:p>
        </p:txBody>
      </p:sp>
      <p:sp>
        <p:nvSpPr>
          <p:cNvPr id="41" name="Text 32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E7EF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 SISTEM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Fitur Aplikasi: Mendukung Peran Setiap Aktor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Ditinjau dari kode sumber platform (juragantani.zip) — setiap fitur teknis merealisasikan peran aktor pada Bab II.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3566160" cy="1874520"/>
          </a:xfrm>
          <a:prstGeom prst="roundRect">
            <a:avLst>
              <a:gd name="adj" fmla="val 3415"/>
            </a:avLst>
          </a:prstGeom>
          <a:solidFill>
            <a:srgbClr val="E7EFE0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246888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8" name="Image 0" descr="/home/claude/icons/seedli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587752"/>
            <a:ext cx="265176" cy="2651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24505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B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index.php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49808" y="3035808"/>
            <a:ext cx="31638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D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Direktori &amp; Pencarian Pengepul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49808" y="3364992"/>
            <a:ext cx="316382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3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Petani memfilter pengepul terverifikasi berdasarkan lokasi &amp; komoditas; kartu mitra menampilkan rating, kapasitas, dan badge “Mitra Terpercaya”.</a:t>
            </a:r>
            <a:endParaRPr lang="en-US" sz="930" dirty="0"/>
          </a:p>
        </p:txBody>
      </p:sp>
      <p:sp>
        <p:nvSpPr>
          <p:cNvPr id="12" name="Shape 9"/>
          <p:cNvSpPr/>
          <p:nvPr/>
        </p:nvSpPr>
        <p:spPr>
          <a:xfrm>
            <a:off x="4297680" y="2286000"/>
            <a:ext cx="3566160" cy="1874520"/>
          </a:xfrm>
          <a:prstGeom prst="roundRect">
            <a:avLst>
              <a:gd name="adj" fmla="val 3415"/>
            </a:avLst>
          </a:prstGeom>
          <a:solidFill>
            <a:srgbClr val="E7EFE0"/>
          </a:solidFill>
          <a:ln/>
        </p:spPr>
      </p:sp>
      <p:sp>
        <p:nvSpPr>
          <p:cNvPr id="13" name="Shape 10"/>
          <p:cNvSpPr/>
          <p:nvPr/>
        </p:nvSpPr>
        <p:spPr>
          <a:xfrm>
            <a:off x="4498848" y="246888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4" name="Image 1" descr="/home/claude/icons/whatsap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587752"/>
            <a:ext cx="265176" cy="26517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20640" y="24505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B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index.php → wa.me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498848" y="3035808"/>
            <a:ext cx="31638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D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Template Pesan Otomatis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498848" y="3364992"/>
            <a:ext cx="316382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3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Tombol “Hubungi via WA” membangkitkan pesan otomatis lewat URL scheme wa.me — mewujudkan peran Meta/WhatsApp sebagai exit point.</a:t>
            </a:r>
            <a:endParaRPr lang="en-US" sz="930" dirty="0"/>
          </a:p>
        </p:txBody>
      </p:sp>
      <p:sp>
        <p:nvSpPr>
          <p:cNvPr id="18" name="Shape 14"/>
          <p:cNvSpPr/>
          <p:nvPr/>
        </p:nvSpPr>
        <p:spPr>
          <a:xfrm>
            <a:off x="8046720" y="2286000"/>
            <a:ext cx="3566160" cy="1874520"/>
          </a:xfrm>
          <a:prstGeom prst="roundRect">
            <a:avLst>
              <a:gd name="adj" fmla="val 3415"/>
            </a:avLst>
          </a:prstGeom>
          <a:solidFill>
            <a:srgbClr val="E7EFE0"/>
          </a:solidFill>
          <a:ln/>
        </p:spPr>
      </p:sp>
      <p:sp>
        <p:nvSpPr>
          <p:cNvPr id="19" name="Shape 15"/>
          <p:cNvSpPr/>
          <p:nvPr/>
        </p:nvSpPr>
        <p:spPr>
          <a:xfrm>
            <a:off x="8247888" y="246888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0" name="Image 2" descr="/home/claude/icons/clipboar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587752"/>
            <a:ext cx="265176" cy="26517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869680" y="24505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B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daftar_pengepul.php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8247888" y="3035808"/>
            <a:ext cx="31638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D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Pendaftaran Mitra Pengepul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247888" y="3364992"/>
            <a:ext cx="316382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3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Pengepul mengisi data usaha, komoditas, lokasi (kecamatan/nagari), dan boleh mengajukan status “Mitra Terpercaya” untuk disurvei Admin.</a:t>
            </a:r>
            <a:endParaRPr lang="en-US" sz="930" dirty="0"/>
          </a:p>
        </p:txBody>
      </p:sp>
      <p:sp>
        <p:nvSpPr>
          <p:cNvPr id="24" name="Shape 19"/>
          <p:cNvSpPr/>
          <p:nvPr/>
        </p:nvSpPr>
        <p:spPr>
          <a:xfrm>
            <a:off x="548640" y="4343400"/>
            <a:ext cx="3566160" cy="1874520"/>
          </a:xfrm>
          <a:prstGeom prst="roundRect">
            <a:avLst>
              <a:gd name="adj" fmla="val 3415"/>
            </a:avLst>
          </a:prstGeom>
          <a:solidFill>
            <a:srgbClr val="E7EFE0"/>
          </a:solidFill>
          <a:ln/>
        </p:spPr>
      </p:sp>
      <p:sp>
        <p:nvSpPr>
          <p:cNvPr id="25" name="Shape 20"/>
          <p:cNvSpPr/>
          <p:nvPr/>
        </p:nvSpPr>
        <p:spPr>
          <a:xfrm>
            <a:off x="749808" y="452628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6" name="Image 3" descr="/home/claude/icons/sta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645152"/>
            <a:ext cx="265176" cy="26517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371600" y="45079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B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beri_rating.php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749808" y="5093208"/>
            <a:ext cx="31638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D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Umpan Balik &amp; Rating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749808" y="5422392"/>
            <a:ext cx="316382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3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Petani memberi rating &amp; ulasan pasca-interaksi — mengoperasionalkan mekanisme umpan balik yang dijelaskan di 2.3.</a:t>
            </a:r>
            <a:endParaRPr lang="en-US" sz="930" dirty="0"/>
          </a:p>
        </p:txBody>
      </p:sp>
      <p:sp>
        <p:nvSpPr>
          <p:cNvPr id="30" name="Shape 24"/>
          <p:cNvSpPr/>
          <p:nvPr/>
        </p:nvSpPr>
        <p:spPr>
          <a:xfrm>
            <a:off x="4297680" y="4343400"/>
            <a:ext cx="3566160" cy="1874520"/>
          </a:xfrm>
          <a:prstGeom prst="roundRect">
            <a:avLst>
              <a:gd name="adj" fmla="val 3415"/>
            </a:avLst>
          </a:prstGeom>
          <a:solidFill>
            <a:srgbClr val="E7EFE0"/>
          </a:solidFill>
          <a:ln/>
        </p:spPr>
      </p:sp>
      <p:sp>
        <p:nvSpPr>
          <p:cNvPr id="31" name="Shape 25"/>
          <p:cNvSpPr/>
          <p:nvPr/>
        </p:nvSpPr>
        <p:spPr>
          <a:xfrm>
            <a:off x="4498848" y="452628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2" name="Image 4" descr="/home/claude/icons/userShiel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4645152"/>
            <a:ext cx="265176" cy="26517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120640" y="45079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B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admin/index.php</a:t>
            </a:r>
            <a:endParaRPr lang="en-US" sz="950" dirty="0"/>
          </a:p>
        </p:txBody>
      </p:sp>
      <p:sp>
        <p:nvSpPr>
          <p:cNvPr id="34" name="Text 27"/>
          <p:cNvSpPr/>
          <p:nvPr/>
        </p:nvSpPr>
        <p:spPr>
          <a:xfrm>
            <a:off x="4498848" y="5093208"/>
            <a:ext cx="31638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D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Panel Verifikasi Admin</a:t>
            </a:r>
            <a:endParaRPr lang="en-US" sz="1250" dirty="0"/>
          </a:p>
        </p:txBody>
      </p:sp>
      <p:sp>
        <p:nvSpPr>
          <p:cNvPr id="35" name="Text 28"/>
          <p:cNvSpPr/>
          <p:nvPr/>
        </p:nvSpPr>
        <p:spPr>
          <a:xfrm>
            <a:off x="4498848" y="5422392"/>
            <a:ext cx="316382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3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Admin mem-verifikasi pengepul baru &amp; menetapkan status “Terpercaya” — peran kurasi data yang menjaga kepercayaan ekosistem.</a:t>
            </a:r>
            <a:endParaRPr lang="en-US" sz="930" dirty="0"/>
          </a:p>
        </p:txBody>
      </p:sp>
      <p:sp>
        <p:nvSpPr>
          <p:cNvPr id="36" name="Shape 29"/>
          <p:cNvSpPr/>
          <p:nvPr/>
        </p:nvSpPr>
        <p:spPr>
          <a:xfrm>
            <a:off x="8046720" y="4343400"/>
            <a:ext cx="3566160" cy="1874520"/>
          </a:xfrm>
          <a:prstGeom prst="roundRect">
            <a:avLst>
              <a:gd name="adj" fmla="val 3415"/>
            </a:avLst>
          </a:prstGeom>
          <a:solidFill>
            <a:srgbClr val="E7EFE0"/>
          </a:solidFill>
          <a:ln/>
        </p:spPr>
      </p:sp>
      <p:sp>
        <p:nvSpPr>
          <p:cNvPr id="37" name="Shape 30"/>
          <p:cNvSpPr/>
          <p:nvPr/>
        </p:nvSpPr>
        <p:spPr>
          <a:xfrm>
            <a:off x="8247888" y="452628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8" name="Image 5" descr="/home/claude/icons/databas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0" y="4645152"/>
            <a:ext cx="265176" cy="265176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8869680" y="45079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B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koneksi.php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8247888" y="5093208"/>
            <a:ext cx="31638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D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Basis Data Terstruktur</a:t>
            </a:r>
            <a:endParaRPr lang="en-US" sz="1250" dirty="0"/>
          </a:p>
        </p:txBody>
      </p:sp>
      <p:sp>
        <p:nvSpPr>
          <p:cNvPr id="41" name="Text 33"/>
          <p:cNvSpPr/>
          <p:nvPr/>
        </p:nvSpPr>
        <p:spPr>
          <a:xfrm>
            <a:off x="8247888" y="5422392"/>
            <a:ext cx="316382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3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Skema kecamatan → nagari → pengepul → komoditas menopang akurasi data lokasi yang disebut sebagai sumber nilai utama platform.</a:t>
            </a:r>
            <a:endParaRPr lang="en-US" sz="930" dirty="0"/>
          </a:p>
        </p:txBody>
      </p:sp>
      <p:sp>
        <p:nvSpPr>
          <p:cNvPr id="42" name="Text 34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Juragantani — Analisis Ekosistem &amp; Aliran Nilai</a:t>
            </a:r>
            <a:endParaRPr lang="en-US" sz="900" dirty="0"/>
          </a:p>
        </p:txBody>
      </p:sp>
      <p:sp>
        <p:nvSpPr>
          <p:cNvPr id="43" name="Text 35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D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3657600" cy="36576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846320"/>
            <a:ext cx="3657600" cy="36576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III · PENUTUP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Kesimpulan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84048" cy="384048"/>
          </a:xfrm>
          <a:prstGeom prst="ellipse">
            <a:avLst/>
          </a:prstGeom>
          <a:solidFill>
            <a:srgbClr val="D97B2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65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911096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8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Ekosistem Juragantani dibentuk oleh minimal 10 aktor yang saling melengkapi — dari aktor teknis pengelola hingga mitra kelembagaan pedesaan.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990088"/>
            <a:ext cx="384048" cy="384048"/>
          </a:xfrm>
          <a:prstGeom prst="ellipse">
            <a:avLst/>
          </a:prstGeom>
          <a:solidFill>
            <a:srgbClr val="D97B29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900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935224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8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Keberhasilan model direktori digital non-transaksional sangat bertumpu pada kualitas kurasi data oleh Tim Admin.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014216"/>
            <a:ext cx="384048" cy="384048"/>
          </a:xfrm>
          <a:prstGeom prst="ellipse">
            <a:avLst/>
          </a:prstGeom>
          <a:solidFill>
            <a:srgbClr val="D97B29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0142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3959352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8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Dukungan sosialisasi dari Penyuluh Pertanian, Gapoktan, dan Kios Saprotan memperkuat adopsi platform di tingkat desa.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5038344"/>
            <a:ext cx="384048" cy="384048"/>
          </a:xfrm>
          <a:prstGeom prst="ellipse">
            <a:avLst/>
          </a:prstGeom>
          <a:solidFill>
            <a:srgbClr val="D97B29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0383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498348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8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Aliran nilai terbesar yang dihadirkan platform adalah efisiensi pencarian kontak dan terpotongnya rantai informasi yang selama ini merugikan petani.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Juragantani — Analisis Ekosistem &amp; Aliran Nilai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E7EF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III · 3.2 SARAN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Rekomendasi Pengembangan ke Depan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E7EFE0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33172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7" name="Image 0" descr="/home/claude/icons/clo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496312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291840"/>
            <a:ext cx="2788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B3D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Pembaruan Data Berkala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68680" y="4023360"/>
            <a:ext cx="27889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ulang data pengepul tiap 1–2 bulan agar badge “Terverifikasi” tetap relevan dan kepercayaan petani terjaga.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97680" y="201168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1D9B8"/>
          </a:solidFill>
          <a:ln/>
        </p:spPr>
      </p:sp>
      <p:sp>
        <p:nvSpPr>
          <p:cNvPr id="11" name="Shape 8"/>
          <p:cNvSpPr/>
          <p:nvPr/>
        </p:nvSpPr>
        <p:spPr>
          <a:xfrm>
            <a:off x="4617720" y="2331720"/>
            <a:ext cx="731520" cy="731520"/>
          </a:xfrm>
          <a:prstGeom prst="ellipse">
            <a:avLst/>
          </a:prstGeom>
          <a:solidFill>
            <a:srgbClr val="D97B29"/>
          </a:solidFill>
          <a:ln/>
        </p:spPr>
      </p:sp>
      <p:pic>
        <p:nvPicPr>
          <p:cNvPr id="12" name="Image 1" descr="/home/claude/icons/commen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249631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7720" y="3291840"/>
            <a:ext cx="2788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B3D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Fitur Umpan Balik Sederhana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4617720" y="4023360"/>
            <a:ext cx="27889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Kembangkan feedback loop agar petani dapat melaporkan perubahan status pengepul secara lebih responsif.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046720" y="201168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E7EFE0"/>
          </a:solidFill>
          <a:ln/>
        </p:spPr>
      </p:sp>
      <p:sp>
        <p:nvSpPr>
          <p:cNvPr id="16" name="Shape 12"/>
          <p:cNvSpPr/>
          <p:nvPr/>
        </p:nvSpPr>
        <p:spPr>
          <a:xfrm>
            <a:off x="8366760" y="233172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7" name="Image 2" descr="/home/claude/icons/qrcod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2496312"/>
            <a:ext cx="402336" cy="40233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66760" y="3291840"/>
            <a:ext cx="2788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B3D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Perluasan Kemitraan Lokal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8366760" y="4023360"/>
            <a:ext cx="27889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Perkuat kemitraan dengan instansi lokal untuk memperluas sosialisasi penggunaan QR Code di setiap balai desa.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Juragantani — Analisis Ekosistem &amp; Aliran Nilai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D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3840480"/>
            <a:ext cx="5029200" cy="50292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4" name="Image 0" descr="/home/claude/icons/seedling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87452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310896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0" y="39776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Ekosistem &amp; Aliran Nilai Platform Digital Juragantani · Kelompok 5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2026-09-15T15:41:57Z</dcterms:created>
  <dcterms:modified xsi:type="dcterms:W3CDTF">2026-09-15T15:41:57Z</dcterms:modified>
</cp:coreProperties>
</file>